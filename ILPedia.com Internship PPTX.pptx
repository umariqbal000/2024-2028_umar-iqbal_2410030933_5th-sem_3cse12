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0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fmt_unzip/word/media/image1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640080"/>
            <a:ext cx="914400" cy="96926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874520" y="71323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IILM UNIVERSITY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874520" y="107899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FC3D6"/>
                </a:solidFill>
                <a:latin typeface="Calibri"/>
                <a:ea typeface="Calibri"/>
                <a:cs typeface="Calibri"/>
                <a:sym typeface="Calibri"/>
              </a:rPr>
              <a:t>Greater Noida, Uttar Pradesh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Full-Stack Web Development and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AI/ML Model Research &amp; Training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at ILPedia.com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Summer Internship Presentation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50749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B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FA0BC"/>
                </a:solidFill>
                <a:latin typeface="Calibri"/>
                <a:ea typeface="Calibri"/>
                <a:cs typeface="Calibri"/>
                <a:sym typeface="Calibri"/>
              </a:rPr>
              <a:t>STUDENT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33095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Umar Iqbal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926080" y="5074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B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FA0BC"/>
                </a:solidFill>
                <a:latin typeface="Calibri"/>
                <a:ea typeface="Calibri"/>
                <a:cs typeface="Calibri"/>
                <a:sym typeface="Calibri"/>
              </a:rPr>
              <a:t>ENROLLMENT / ROLL NO.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926080" y="533095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2410030933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754880" y="50749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B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FA0BC"/>
                </a:solidFill>
                <a:latin typeface="Calibri"/>
                <a:ea typeface="Calibri"/>
                <a:cs typeface="Calibri"/>
                <a:sym typeface="Calibri"/>
              </a:rPr>
              <a:t>PROGRAM &amp; SEMESTER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54880" y="5330952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B.Tech CSE (Data Science &amp; Big Data Analytics) — 5th Semester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235440" y="5074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B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FA0BC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235440" y="533095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3CSE12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607040" y="5074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B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FA0BC"/>
                </a:solidFill>
                <a:latin typeface="Calibri"/>
                <a:ea typeface="Calibri"/>
                <a:cs typeface="Calibri"/>
                <a:sym typeface="Calibri"/>
              </a:rPr>
              <a:t>ORGANIZATION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0607040" y="533095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ILPedia.com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Internship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109728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A two-month Summer Internship at ILPedia.com, combining hands-on full-stack software development with research-oriented work in Artificial Intelligence and Machine Learning.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2057400"/>
            <a:ext cx="6400800" cy="1325880"/>
          </a:xfrm>
          <a:prstGeom prst="roundRect">
            <a:avLst>
              <a:gd fmla="val 5517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77240" y="2276856"/>
            <a:ext cx="868680" cy="8686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alendar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168" y="2389784"/>
            <a:ext cx="642823" cy="64282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1828800" y="22219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828800" y="2496312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28 May – 28 July 2026 (2 Months)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3611880"/>
            <a:ext cx="6400800" cy="1325880"/>
          </a:xfrm>
          <a:prstGeom prst="roundRect">
            <a:avLst>
              <a:gd fmla="val 5517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77240" y="3831336"/>
            <a:ext cx="868680" cy="8686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iefcase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168" y="3944264"/>
            <a:ext cx="642823" cy="64282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828800" y="377647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828800" y="4050792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Full Stack Developer with AI/ML Model Researcher &amp; ML Model Trainer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5166360"/>
            <a:ext cx="6400800" cy="1325880"/>
          </a:xfrm>
          <a:prstGeom prst="roundRect">
            <a:avLst>
              <a:gd fmla="val 5517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777240" y="5385816"/>
            <a:ext cx="868680" cy="8686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uilding.png" id="52" name="Google Shape;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0168" y="5498744"/>
            <a:ext cx="642823" cy="64282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1828800" y="533095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ORGANIZATION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828800" y="5605272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ILPedia.com — “Your Gateway to the World of Ionic Liquids”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269480" y="1143000"/>
            <a:ext cx="4343400" cy="5074920"/>
          </a:xfrm>
          <a:prstGeom prst="roundRect">
            <a:avLst>
              <a:gd fmla="val 210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63524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635240" y="196596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778240" y="207568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D9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E8"/>
                </a:solidFill>
                <a:latin typeface="Calibri"/>
                <a:ea typeface="Calibri"/>
                <a:cs typeface="Calibri"/>
                <a:sym typeface="Calibri"/>
              </a:rPr>
              <a:t>Months of hands-on internship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635240" y="292608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778240" y="303580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D9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E8"/>
                </a:solidFill>
                <a:latin typeface="Calibri"/>
                <a:ea typeface="Calibri"/>
                <a:cs typeface="Calibri"/>
                <a:sym typeface="Calibri"/>
              </a:rPr>
              <a:t>Core tracks: Full-Stack + AI/ML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635240" y="388620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778240" y="399592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D9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E8"/>
                </a:solidFill>
                <a:latin typeface="Calibri"/>
                <a:ea typeface="Calibri"/>
                <a:cs typeface="Calibri"/>
                <a:sym typeface="Calibri"/>
              </a:rPr>
              <a:t>Key responsibility 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635240" y="4846320"/>
            <a:ext cx="1188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778240" y="495604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D9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E8"/>
                </a:solidFill>
                <a:latin typeface="Calibri"/>
                <a:ea typeface="Calibri"/>
                <a:cs typeface="Calibri"/>
                <a:sym typeface="Calibri"/>
              </a:rPr>
              <a:t>Official documents of completion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ILPedia.com Internship  |  Umar Iqbal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554480" y="914400"/>
            <a:ext cx="1188720" cy="11887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uilding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014" y="1068934"/>
            <a:ext cx="879653" cy="87965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548640" y="228600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Organization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Profile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48640" y="3657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ILPedia.com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" y="40233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E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7D9E8"/>
                </a:solidFill>
                <a:latin typeface="Calibri"/>
                <a:ea typeface="Calibri"/>
                <a:cs typeface="Calibri"/>
                <a:sym typeface="Calibri"/>
              </a:rPr>
              <a:t>“Your Gateway to the World of Ionic Liquids”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0" y="640080"/>
            <a:ext cx="7040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ILPedia.com is a knowledge and technology-driven organization focused on building and disseminating research-oriented digital resources in the domain of ionic liquids and related chemical sciences.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0" y="1783080"/>
            <a:ext cx="7040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Alongside this core knowledge platform, the organization undertakes technology-driven initiatives spanning full-stack web development, Artificial Intelligence, and Machine Learning — applying modern computational tools to research, data analysis, and digital platform development.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0" y="3200400"/>
            <a:ext cx="704088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892040" y="3383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LEADERSHIP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892040" y="365760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Dr. Mohammad Tariq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92040" y="4041648"/>
            <a:ext cx="630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Mentors interns with hands-on exposure to both software development and AI/ML research workflows, emphasizing academic rigor blended with applied engineering.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0" y="5120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contact@ilpedia.com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Roles &amp; Responsibilities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Appointed as Full Stack Developer with AI/ML Model Researcher &amp; ML Model Trainer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fmla="val 3404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ptop.png" id="95" name="Google Shape;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450" y="191201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Full-Stack Development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77240" y="289864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Developing, testing, and integrating frontend and backend web application features.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fmla="val 3404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526280" y="18288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.png" id="100" name="Google Shape;1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9490" y="191201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4526280" y="2560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Data Handling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26280" y="289864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Collecting, cleaning, and preprocessing datasets for machine learning applications.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fmla="val 3404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275320" y="18288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.png" id="105" name="Google Shape;1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8530" y="191201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8275320" y="256032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ML Model 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275320" y="289864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Training, evaluating, testing, and optimizing machine learning models.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fmla="val 3404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gs.png" id="110" name="Google Shape;11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450" y="4335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777240" y="4983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Experimentation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77240" y="532180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Comparing algorithms and approaches through structured model experimentation.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297680" y="4023360"/>
            <a:ext cx="3520440" cy="2148840"/>
          </a:xfrm>
          <a:prstGeom prst="roundRect">
            <a:avLst>
              <a:gd fmla="val 3404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526280" y="425196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debranch.png" id="115" name="Google Shape;11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9490" y="4335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4526280" y="4983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Debugging &amp; QA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26280" y="532180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Debugging, troubleshooting, and improving applications and trained models.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046720" y="4023360"/>
            <a:ext cx="3520440" cy="2148840"/>
          </a:xfrm>
          <a:prstGeom prst="roundRect">
            <a:avLst>
              <a:gd fmla="val 3404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8275320" y="425196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users.png" id="120" name="Google Shape;12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8530" y="4335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8275320" y="49834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Collaboration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275320" y="532180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Working with the team, following timelines, and maintaining technical documentation.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ILPedia.com Internship  |  Umar Iqbal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0607040" y="411480"/>
            <a:ext cx="1005840" cy="10058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ullseye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7799" y="542239"/>
            <a:ext cx="744322" cy="74432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548640" y="1417320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234440" y="1399032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Gain hands-on experience in full-stack web development — frontend, backend, testing, and integration.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48640" y="2176272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48640" y="21762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234440" y="2157984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Conduct research on AI/ML models, techniques, and real-world applications.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48640" y="2935224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48640" y="29352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234440" y="291693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Assist in dataset collection, cleaning, and preprocessing for machine learning tasks.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3694176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48640" y="36941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234440" y="3675888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Train, evaluate, and optimize ML models, comparing algorithms and approaches.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48640" y="4453128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48640" y="4453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234440" y="443484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Implement and integrate AI/ML models into practical, usable software applications.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5212080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548640" y="5212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234440" y="5193792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Strengthen debugging, teamwork, and technical documentation skills through real projects.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6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6B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Scope of the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fmla="val 185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914400" y="16002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ptop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385" y="1707185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960120" y="25146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Development Track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960120" y="297180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Designing, building, and maintaining full-stack web applications.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60120" y="365760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Frontend user-interface development and backend service logic.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960120" y="434340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Integration of frontend and backend components and testing.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fmla="val 1852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583680" y="16002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.png" id="167" name="Google Shape;1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0665" y="1707185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6629400" y="25146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Research &amp; ML Track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629400" y="297180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5F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9F5F0"/>
                </a:solidFill>
                <a:latin typeface="Calibri"/>
                <a:ea typeface="Calibri"/>
                <a:cs typeface="Calibri"/>
                <a:sym typeface="Calibri"/>
              </a:rPr>
              <a:t>Dataset preparation, model experimentation, and evaluation.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629400" y="365760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5F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9F5F0"/>
                </a:solidFill>
                <a:latin typeface="Calibri"/>
                <a:ea typeface="Calibri"/>
                <a:cs typeface="Calibri"/>
                <a:sym typeface="Calibri"/>
              </a:rPr>
              <a:t>Optimization and integration of trained models into applications.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629400" y="434340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F5F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E9F5F0"/>
                </a:solidFill>
                <a:latin typeface="Calibri"/>
                <a:ea typeface="Calibri"/>
                <a:cs typeface="Calibri"/>
                <a:sym typeface="Calibri"/>
              </a:rPr>
              <a:t>Documentation of research findings, experiments, and progress.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ILPedia.com Internship  |  Umar Iqbal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Technologies &amp; Tools Used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fmla="val 4348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1897380" y="1719072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ptop.png"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365" y="1826057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731520" y="26974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77240" y="299923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HTML5, CSS3, JavaScript &amp; modern UI frameworks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fmla="val 4348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646420" y="1719072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er.png" id="187" name="Google Shape;1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405" y="1826057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4480560" y="26974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26280" y="299923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Server-side frameworks &amp; RESTful API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fmla="val 4348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9395460" y="1719072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.png" id="192" name="Google Shape;1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2445" y="1826057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8229600" y="26974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Databases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275320" y="299923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Relational &amp; NoSQL data storage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fmla="val 4348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1897380" y="4096512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rain.png" id="197" name="Google Shape;19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4365" y="4203497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31520" y="50749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ML /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77240" y="537667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Python-based ML libraries for training &amp; evaluation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fmla="val 4348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646420" y="4096512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debranch.png" id="202" name="Google Shape;202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405" y="4203497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4480560" y="50749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26280" y="537667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Git &amp; GitHub for collaborative development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fmla="val 4348" name="adj"/>
            </a:avLst>
          </a:prstGeom>
          <a:solidFill>
            <a:srgbClr val="EA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9395460" y="4096512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gs.png" id="207" name="Google Shape;20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02445" y="4203497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8229600" y="50749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Dev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275320" y="5376672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Code editors, debuggers &amp; testing utilities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ILPedia.com Internship  |  Umar Iqbal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 layered approach separating application development from ML research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005840" y="1600200"/>
            <a:ext cx="10149840" cy="914400"/>
          </a:xfrm>
          <a:prstGeom prst="roundRect">
            <a:avLst>
              <a:gd fmla="val 8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1280160" y="16002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Presentation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663440" y="1600200"/>
            <a:ext cx="6309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7"/>
                </a:solidFill>
                <a:latin typeface="Calibri"/>
                <a:ea typeface="Calibri"/>
                <a:cs typeface="Calibri"/>
                <a:sym typeface="Calibri"/>
              </a:rPr>
              <a:t>Frontend interface through which users interact with the application.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005840" y="2679192"/>
            <a:ext cx="10149840" cy="91440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1280160" y="2679192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Application / Backend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663440" y="2679192"/>
            <a:ext cx="6309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7"/>
                </a:solidFill>
                <a:latin typeface="Calibri"/>
                <a:ea typeface="Calibri"/>
                <a:cs typeface="Calibri"/>
                <a:sym typeface="Calibri"/>
              </a:rPr>
              <a:t>Server-side logic handling requests, business rules, and communication.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005840" y="3758184"/>
            <a:ext cx="10149840" cy="9144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1280160" y="3758184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663440" y="3758184"/>
            <a:ext cx="6309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7"/>
                </a:solidFill>
                <a:latin typeface="Calibri"/>
                <a:ea typeface="Calibri"/>
                <a:cs typeface="Calibri"/>
                <a:sym typeface="Calibri"/>
              </a:rPr>
              <a:t>Databases and datasets for application data and ML training/evaluation.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005840" y="4837176"/>
            <a:ext cx="10149840" cy="914400"/>
          </a:xfrm>
          <a:prstGeom prst="roundRect">
            <a:avLst>
              <a:gd fmla="val 8000" name="adj"/>
            </a:avLst>
          </a:prstGeom>
          <a:solidFill>
            <a:srgbClr val="3E8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1280160" y="4837176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ML / AI Layer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663440" y="4837176"/>
            <a:ext cx="6309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7"/>
                </a:solidFill>
                <a:latin typeface="Calibri"/>
                <a:ea typeface="Calibri"/>
                <a:cs typeface="Calibri"/>
                <a:sym typeface="Calibri"/>
              </a:rPr>
              <a:t>Trained models performing predictions and AI-driven tasks in the backend.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Iterative, agile-aligned workflow followed for both development and ML tasks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1645920" y="3703320"/>
            <a:ext cx="8869680" cy="0"/>
          </a:xfrm>
          <a:prstGeom prst="straightConnector1">
            <a:avLst/>
          </a:prstGeom>
          <a:noFill/>
          <a:ln cap="flat" cmpd="sng" w="25400">
            <a:solidFill>
              <a:srgbClr val="C7D9E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777240" y="2834640"/>
            <a:ext cx="1737360" cy="1737360"/>
          </a:xfrm>
          <a:prstGeom prst="ellipse">
            <a:avLst/>
          </a:prstGeom>
          <a:solidFill>
            <a:srgbClr val="065A8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777240" y="299923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40080" y="347472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2994660" y="2834640"/>
            <a:ext cx="1737360" cy="1737360"/>
          </a:xfrm>
          <a:prstGeom prst="ellipse">
            <a:avLst/>
          </a:prstGeom>
          <a:solidFill>
            <a:srgbClr val="1C729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2994660" y="299923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2857500" y="347472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212080" y="2834640"/>
            <a:ext cx="1737360" cy="1737360"/>
          </a:xfrm>
          <a:prstGeom prst="ellipse">
            <a:avLst/>
          </a:prstGeom>
          <a:solidFill>
            <a:srgbClr val="065A8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212080" y="299923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074920" y="347472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7429500" y="2834640"/>
            <a:ext cx="1737360" cy="1737360"/>
          </a:xfrm>
          <a:prstGeom prst="ellipse">
            <a:avLst/>
          </a:prstGeom>
          <a:solidFill>
            <a:srgbClr val="1C729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7429500" y="299923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292340" y="347472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9646920" y="2834640"/>
            <a:ext cx="1737360" cy="1737360"/>
          </a:xfrm>
          <a:prstGeom prst="ellipse">
            <a:avLst/>
          </a:prstGeom>
          <a:solidFill>
            <a:srgbClr val="065A8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9646920" y="299923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9509760" y="347472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For ML tasks, this follows the standard pipeline: data collection &amp; preprocessing → exploratory analysis → model selection → training → evaluation → iterative optimization.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ILPedia.com Internship  |  Umar Iqbal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Outcomes &amp; Key Learnings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0607040" y="411480"/>
            <a:ext cx="1005840" cy="10058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artline.png" id="265" name="Google Shape;2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7799" y="542239"/>
            <a:ext cx="744322" cy="74432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548640" y="155448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2B3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777240" y="1920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1600200" y="1719072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Practical, working knowledge of full-stack web development end to 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943600" y="155448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2B3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172200" y="192024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6172200" y="1920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995160" y="1719072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Hands-on experience preparing datasets and training/evaluating ML models.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48640" y="320040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2B3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777240" y="356616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777240" y="35661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1600200" y="3364992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Improved ability to research and apply AI/ML techniques to real problems.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943600" y="320040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2B3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172200" y="356616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172200" y="35661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995160" y="3364992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Strengthened debugging, testing, and software engineering skills.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48640" y="484632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2B3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777240" y="521208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777240" y="52120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600200" y="5010912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Enhanced teamwork, documentation, and timeline-driven professionalism.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5943600" y="4846320"/>
            <a:ext cx="5120640" cy="1417320"/>
          </a:xfrm>
          <a:prstGeom prst="roundRect">
            <a:avLst>
              <a:gd fmla="val 5161" name="adj"/>
            </a:avLst>
          </a:prstGeom>
          <a:solidFill>
            <a:srgbClr val="2B3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172200" y="5212080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6172200" y="52120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6995160" y="5010912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4EDF3"/>
                </a:solidFill>
                <a:latin typeface="Calibri"/>
                <a:ea typeface="Calibri"/>
                <a:cs typeface="Calibri"/>
                <a:sym typeface="Calibri"/>
              </a:rPr>
              <a:t>Successful completion, formally recognized by ILPedia.com's certification.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6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6B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Certification of Completion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086600" y="960120"/>
            <a:ext cx="4206240" cy="5623560"/>
          </a:xfrm>
          <a:prstGeom prst="roundRect">
            <a:avLst>
              <a:gd fmla="val 1087" name="adj"/>
            </a:avLst>
          </a:prstGeom>
          <a:solidFill>
            <a:srgbClr val="FFFFFF"/>
          </a:solidFill>
          <a:ln cap="flat" cmpd="sng" w="12700">
            <a:solidFill>
              <a:srgbClr val="D7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cert_page_1.png" id="298" name="Google Shape;2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0" y="1097280"/>
            <a:ext cx="3840480" cy="543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3"/>
          <p:cNvSpPr/>
          <p:nvPr/>
        </p:nvSpPr>
        <p:spPr>
          <a:xfrm>
            <a:off x="548640" y="1280160"/>
            <a:ext cx="914400" cy="9144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ertificate.png" id="300" name="Google Shape;3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" y="1399032"/>
            <a:ext cx="676656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3"/>
          <p:cNvSpPr/>
          <p:nvPr/>
        </p:nvSpPr>
        <p:spPr>
          <a:xfrm>
            <a:off x="548640" y="233172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Issued by ILPedia.com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48640" y="274320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Signed by Dr. Mohammad Tariq  •  Issued 28 July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48640" y="3291840"/>
            <a:ext cx="320040" cy="320040"/>
          </a:xfrm>
          <a:prstGeom prst="roundRect">
            <a:avLst>
              <a:gd fmla="val 1714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1005840" y="32461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Certificate of Internship Completion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48640" y="3886200"/>
            <a:ext cx="320040" cy="320040"/>
          </a:xfrm>
          <a:prstGeom prst="roundRect">
            <a:avLst>
              <a:gd fmla="val 1714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1005840" y="384048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Letter of Appointment (28 May 2026)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48640" y="4480560"/>
            <a:ext cx="320040" cy="320040"/>
          </a:xfrm>
          <a:prstGeom prst="roundRect">
            <a:avLst>
              <a:gd fmla="val 1714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1005840" y="443484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Letter of Internship Completion &amp; Experience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-1828800" y="475488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E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7D9E8"/>
                </a:solidFill>
                <a:latin typeface="Calibri"/>
                <a:ea typeface="Calibri"/>
                <a:cs typeface="Calibri"/>
                <a:sym typeface="Calibri"/>
              </a:rPr>
              <a:t>Grateful to ILPedia.com and Dr. Mohammad Tariq for the mentorship and opportunity.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Umar Iqbal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6BC"/>
                </a:solidFill>
                <a:latin typeface="Calibri"/>
                <a:ea typeface="Calibri"/>
                <a:cs typeface="Calibri"/>
                <a:sym typeface="Calibri"/>
              </a:rPr>
              <a:t>B.Tech CSE (Data Science &amp; Big Data Analytics)  |  Roll No. 2410030933  |  Section 3CSE12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mt_unzip/word/media/image1.png" id="321" name="Google Shape;3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0" y="5212080"/>
            <a:ext cx="822960" cy="8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